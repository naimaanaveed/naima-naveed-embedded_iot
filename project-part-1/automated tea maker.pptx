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81" r:id="rId3"/>
    <p:sldId id="257" r:id="rId4"/>
    <p:sldId id="258" r:id="rId5"/>
    <p:sldId id="262" r:id="rId6"/>
    <p:sldId id="259" r:id="rId7"/>
    <p:sldId id="260" r:id="rId8"/>
    <p:sldId id="261" r:id="rId9"/>
    <p:sldId id="263" r:id="rId10"/>
    <p:sldId id="264" r:id="rId11"/>
    <p:sldId id="265" r:id="rId12"/>
    <p:sldId id="288" r:id="rId13"/>
    <p:sldId id="266" r:id="rId14"/>
    <p:sldId id="267" r:id="rId15"/>
    <p:sldId id="268" r:id="rId16"/>
    <p:sldId id="274" r:id="rId17"/>
    <p:sldId id="275" r:id="rId18"/>
    <p:sldId id="276" r:id="rId19"/>
    <p:sldId id="278" r:id="rId20"/>
    <p:sldId id="279" r:id="rId21"/>
    <p:sldId id="280" r:id="rId22"/>
    <p:sldId id="269" r:id="rId23"/>
    <p:sldId id="270" r:id="rId24"/>
    <p:sldId id="282" r:id="rId25"/>
    <p:sldId id="283" r:id="rId26"/>
    <p:sldId id="284" r:id="rId27"/>
    <p:sldId id="285" r:id="rId28"/>
    <p:sldId id="286" r:id="rId29"/>
    <p:sldId id="287" r:id="rId30"/>
    <p:sldId id="290" r:id="rId31"/>
    <p:sldId id="271" r:id="rId32"/>
    <p:sldId id="272" r:id="rId33"/>
    <p:sldId id="289" r:id="rId34"/>
    <p:sldId id="273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59" autoAdjust="0"/>
    <p:restoredTop sz="94660"/>
  </p:normalViewPr>
  <p:slideViewPr>
    <p:cSldViewPr snapToGrid="0">
      <p:cViewPr>
        <p:scale>
          <a:sx n="65" d="100"/>
          <a:sy n="65" d="100"/>
        </p:scale>
        <p:origin x="75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7:12:21.9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7:13:45.9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7:13:48.4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7:13:50.1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7:13:50.3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5T17:13:50.9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C16A54AD-6CC2-4C90-ACD3-DCD63D31305E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CB82C608-E016-4F96-989E-88278034399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8749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A54AD-6CC2-4C90-ACD3-DCD63D31305E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2C608-E016-4F96-989E-882780343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913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A54AD-6CC2-4C90-ACD3-DCD63D31305E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2C608-E016-4F96-989E-882780343993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6643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A54AD-6CC2-4C90-ACD3-DCD63D31305E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2C608-E016-4F96-989E-882780343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958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A54AD-6CC2-4C90-ACD3-DCD63D31305E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2C608-E016-4F96-989E-882780343993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0470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A54AD-6CC2-4C90-ACD3-DCD63D31305E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2C608-E016-4F96-989E-882780343993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7153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A54AD-6CC2-4C90-ACD3-DCD63D31305E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2C608-E016-4F96-989E-882780343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990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A54AD-6CC2-4C90-ACD3-DCD63D31305E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2C608-E016-4F96-989E-882780343993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269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A54AD-6CC2-4C90-ACD3-DCD63D31305E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2C608-E016-4F96-989E-882780343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681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A54AD-6CC2-4C90-ACD3-DCD63D31305E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2C608-E016-4F96-989E-882780343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762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A54AD-6CC2-4C90-ACD3-DCD63D31305E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2C608-E016-4F96-989E-88278034399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04098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A54AD-6CC2-4C90-ACD3-DCD63D31305E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2C608-E016-4F96-989E-88278034399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13430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A54AD-6CC2-4C90-ACD3-DCD63D31305E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2C608-E016-4F96-989E-882780343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200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A54AD-6CC2-4C90-ACD3-DCD63D31305E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2C608-E016-4F96-989E-882780343993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18503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A54AD-6CC2-4C90-ACD3-DCD63D31305E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2C608-E016-4F96-989E-88278034399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60646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A54AD-6CC2-4C90-ACD3-DCD63D31305E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2C608-E016-4F96-989E-882780343993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19521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A54AD-6CC2-4C90-ACD3-DCD63D31305E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2C608-E016-4F96-989E-882780343993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8386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6A54AD-6CC2-4C90-ACD3-DCD63D31305E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B82C608-E016-4F96-989E-882780343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457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3" Type="http://schemas.openxmlformats.org/officeDocument/2006/relationships/customXml" Target="../ink/ink2.xml"/><Relationship Id="rId7" Type="http://schemas.openxmlformats.org/officeDocument/2006/relationships/customXml" Target="../ink/ink5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.xml"/><Relationship Id="rId5" Type="http://schemas.openxmlformats.org/officeDocument/2006/relationships/customXml" Target="../ink/ink3.xml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fif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BE153-99D1-E7CC-F27F-4817D7D8B6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2538637"/>
          </a:xfrm>
        </p:spPr>
        <p:txBody>
          <a:bodyPr/>
          <a:lstStyle/>
          <a:p>
            <a:r>
              <a:rPr lang="en-US" b="1">
                <a:solidFill>
                  <a:schemeClr val="accent3">
                    <a:lumMod val="75000"/>
                  </a:schemeClr>
                </a:solidFill>
              </a:rPr>
              <a:t>AUTOMATED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TEA BREWING SYSTEM</a:t>
            </a:r>
          </a:p>
        </p:txBody>
      </p:sp>
    </p:spTree>
    <p:extLst>
      <p:ext uri="{BB962C8B-B14F-4D97-AF65-F5344CB8AC3E}">
        <p14:creationId xmlns:p14="http://schemas.microsoft.com/office/powerpoint/2010/main" val="1394498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0DF71AA-A166-3BD1-ED31-FED30CA6D36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295" y="867360"/>
            <a:ext cx="10331705" cy="516472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43000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3E6C2-C88E-A7DD-E443-4D881E995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>
                <a:solidFill>
                  <a:schemeClr val="accent3">
                    <a:lumMod val="75000"/>
                  </a:schemeClr>
                </a:solidFill>
              </a:rPr>
              <a:t>PRESENTED BY: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BEE66-A956-AE1F-F8E7-128AEB18B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3" y="3569110"/>
            <a:ext cx="9205450" cy="2306758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accent3">
                    <a:lumMod val="75000"/>
                  </a:schemeClr>
                </a:solidFill>
              </a:rPr>
              <a:t>                   ALEEHA AIMAN (23-NTU-CS-1243)</a:t>
            </a:r>
          </a:p>
          <a:p>
            <a:r>
              <a:rPr lang="en-US" sz="2800" b="1" dirty="0">
                <a:solidFill>
                  <a:schemeClr val="accent3">
                    <a:lumMod val="75000"/>
                  </a:schemeClr>
                </a:solidFill>
              </a:rPr>
              <a:t>                   NAIMA NAVEED (23-NTU-CS-1032)</a:t>
            </a:r>
          </a:p>
          <a:p>
            <a:r>
              <a:rPr lang="en-US" sz="2800" b="1" dirty="0">
                <a:solidFill>
                  <a:schemeClr val="accent3">
                    <a:lumMod val="75000"/>
                  </a:schemeClr>
                </a:solidFill>
              </a:rPr>
              <a:t>                   ESSHA IMRAN (23-NTU-CS-1022)</a:t>
            </a:r>
          </a:p>
        </p:txBody>
      </p:sp>
    </p:spTree>
    <p:extLst>
      <p:ext uri="{BB962C8B-B14F-4D97-AF65-F5344CB8AC3E}">
        <p14:creationId xmlns:p14="http://schemas.microsoft.com/office/powerpoint/2010/main" val="993362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85F2A92-F311-23CD-3608-A40713B54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23139"/>
            <a:ext cx="9601196" cy="5197442"/>
          </a:xfrm>
        </p:spPr>
        <p:txBody>
          <a:bodyPr/>
          <a:lstStyle/>
          <a:p>
            <a:r>
              <a:rPr lang="en-US" b="1" u="sng" dirty="0">
                <a:solidFill>
                  <a:schemeClr val="accent3">
                    <a:lumMod val="75000"/>
                  </a:schemeClr>
                </a:solidFill>
              </a:rPr>
              <a:t>Project Overview</a:t>
            </a:r>
            <a:br>
              <a:rPr lang="en-US" b="1" u="sng" dirty="0">
                <a:solidFill>
                  <a:schemeClr val="accent3">
                    <a:lumMod val="75000"/>
                  </a:schemeClr>
                </a:solidFill>
              </a:rPr>
            </a:br>
            <a:br>
              <a:rPr lang="en-US" b="1" dirty="0">
                <a:solidFill>
                  <a:schemeClr val="accent3">
                    <a:lumMod val="75000"/>
                  </a:schemeClr>
                </a:solidFill>
              </a:rPr>
            </a:br>
            <a:r>
              <a:rPr lang="en-US" sz="3200" b="1" dirty="0">
                <a:solidFill>
                  <a:schemeClr val="accent3">
                    <a:lumMod val="75000"/>
                  </a:schemeClr>
                </a:solidFill>
              </a:rPr>
              <a:t>1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. </a:t>
            </a:r>
            <a:r>
              <a:rPr lang="en-US" sz="3200" dirty="0">
                <a:solidFill>
                  <a:schemeClr val="accent3">
                    <a:lumMod val="75000"/>
                  </a:schemeClr>
                </a:solidFill>
              </a:rPr>
              <a:t>IoT-based automated tea brewing system</a:t>
            </a:r>
            <a:br>
              <a:rPr lang="en-US" sz="3200" dirty="0">
                <a:solidFill>
                  <a:schemeClr val="accent3">
                    <a:lumMod val="75000"/>
                  </a:schemeClr>
                </a:solidFill>
              </a:rPr>
            </a:br>
            <a:r>
              <a:rPr lang="en-US" sz="3200" b="1" dirty="0">
                <a:solidFill>
                  <a:schemeClr val="accent3">
                    <a:lumMod val="75000"/>
                  </a:schemeClr>
                </a:solidFill>
              </a:rPr>
              <a:t>2</a:t>
            </a:r>
            <a:r>
              <a:rPr lang="en-US" sz="3200" dirty="0">
                <a:solidFill>
                  <a:schemeClr val="accent3">
                    <a:lumMod val="75000"/>
                  </a:schemeClr>
                </a:solidFill>
              </a:rPr>
              <a:t>. Controls complete tea preparation process</a:t>
            </a:r>
            <a:br>
              <a:rPr lang="en-US" sz="3200" dirty="0">
                <a:solidFill>
                  <a:schemeClr val="accent3">
                    <a:lumMod val="75000"/>
                  </a:schemeClr>
                </a:solidFill>
              </a:rPr>
            </a:br>
            <a:r>
              <a:rPr lang="en-US" sz="3200" b="1" dirty="0">
                <a:solidFill>
                  <a:schemeClr val="accent3">
                    <a:lumMod val="75000"/>
                  </a:schemeClr>
                </a:solidFill>
              </a:rPr>
              <a:t>3.</a:t>
            </a:r>
            <a:r>
              <a:rPr lang="en-US" sz="3200" dirty="0">
                <a:solidFill>
                  <a:schemeClr val="accent3">
                    <a:lumMod val="75000"/>
                  </a:schemeClr>
                </a:solidFill>
              </a:rPr>
              <a:t> Reduces manual effort</a:t>
            </a:r>
            <a:br>
              <a:rPr lang="en-US" sz="3200" dirty="0">
                <a:solidFill>
                  <a:schemeClr val="accent3">
                    <a:lumMod val="75000"/>
                  </a:schemeClr>
                </a:solidFill>
              </a:rPr>
            </a:br>
            <a:r>
              <a:rPr lang="en-US" sz="3200" b="1" dirty="0">
                <a:solidFill>
                  <a:schemeClr val="accent3">
                    <a:lumMod val="75000"/>
                  </a:schemeClr>
                </a:solidFill>
              </a:rPr>
              <a:t>4.</a:t>
            </a:r>
            <a:r>
              <a:rPr lang="en-US" sz="3200" dirty="0">
                <a:solidFill>
                  <a:schemeClr val="accent3">
                    <a:lumMod val="75000"/>
                  </a:schemeClr>
                </a:solidFill>
              </a:rPr>
              <a:t> Provides smart and efficient solution</a:t>
            </a:r>
            <a:br>
              <a:rPr lang="en-US" sz="3200" dirty="0">
                <a:solidFill>
                  <a:schemeClr val="accent3">
                    <a:lumMod val="75000"/>
                  </a:schemeClr>
                </a:solidFill>
              </a:rPr>
            </a:br>
            <a:r>
              <a:rPr lang="en-US" sz="3200" b="1" dirty="0">
                <a:solidFill>
                  <a:schemeClr val="accent3">
                    <a:lumMod val="75000"/>
                  </a:schemeClr>
                </a:solidFill>
              </a:rPr>
              <a:t>5.</a:t>
            </a:r>
            <a:r>
              <a:rPr lang="en-US" sz="3200" dirty="0">
                <a:solidFill>
                  <a:schemeClr val="accent3">
                    <a:lumMod val="75000"/>
                  </a:schemeClr>
                </a:solidFill>
              </a:rPr>
              <a:t> Operated through a web-based interface</a:t>
            </a:r>
            <a:br>
              <a:rPr lang="en-US" sz="3200" dirty="0"/>
            </a:b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5896716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4C291-10E7-1EA0-C75C-B68991D3D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chemeClr val="accent3">
                    <a:lumMod val="75000"/>
                  </a:schemeClr>
                </a:solidFill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8F2E7-7C52-3AAF-344C-753B76BB9A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875934"/>
            <a:ext cx="9601196" cy="299993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Automate tea preparation</a:t>
            </a:r>
          </a:p>
          <a:p>
            <a:pPr algn="ctr"/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Improve efficiency and consistency</a:t>
            </a:r>
          </a:p>
          <a:p>
            <a:pPr algn="ctr"/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Provide easy user interaction</a:t>
            </a:r>
          </a:p>
          <a:p>
            <a:pPr algn="ctr"/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Enable remote control using IoT</a:t>
            </a:r>
          </a:p>
          <a:p>
            <a:pPr algn="ctr"/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Ensure safe system operation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9813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03E73-7D9D-4BBE-3357-2408CC137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chemeClr val="accent3">
                    <a:lumMod val="75000"/>
                  </a:schemeClr>
                </a:solidFill>
              </a:rPr>
              <a:t>Technology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40F16-AFBD-0D80-840F-2CB33C6925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ctr"/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ESP32 microcontroller</a:t>
            </a:r>
          </a:p>
          <a:p>
            <a:pPr algn="ctr"/>
            <a:r>
              <a:rPr lang="en-US" sz="2800" dirty="0" err="1">
                <a:solidFill>
                  <a:schemeClr val="accent3">
                    <a:lumMod val="75000"/>
                  </a:schemeClr>
                </a:solidFill>
              </a:rPr>
              <a:t>WiFi</a:t>
            </a:r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-based communication</a:t>
            </a:r>
          </a:p>
          <a:p>
            <a:pPr algn="ctr"/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HTML, CSS, JavaScript (Frontend)</a:t>
            </a:r>
          </a:p>
          <a:p>
            <a:pPr algn="ctr"/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ESP32 Web Server (Backend)</a:t>
            </a:r>
          </a:p>
          <a:p>
            <a:pPr algn="ctr"/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MongoDB (Cloud Database)</a:t>
            </a:r>
          </a:p>
          <a:p>
            <a:pPr algn="ctr"/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Relays, Servo Motors, SSR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196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6A7B7-2447-4F4A-63B4-49FF04871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chemeClr val="accent3">
                    <a:lumMod val="75000"/>
                  </a:schemeClr>
                </a:solidFill>
              </a:rPr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EF53D-7F4D-C49C-0158-0496FBDDC1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ctr"/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Web-based control interface</a:t>
            </a:r>
          </a:p>
          <a:p>
            <a:pPr algn="ctr"/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Fully automated brewing sequence</a:t>
            </a:r>
          </a:p>
          <a:p>
            <a:pPr algn="ctr"/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Real-time status monitoring</a:t>
            </a:r>
          </a:p>
          <a:p>
            <a:pPr algn="ctr"/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Remaining time display</a:t>
            </a:r>
          </a:p>
          <a:p>
            <a:pPr algn="ctr"/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Pre-configured tea recipes</a:t>
            </a:r>
          </a:p>
          <a:p>
            <a:pPr algn="ctr"/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Emergency stop functionality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1247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4A28D-CD48-22AE-51D9-856F99598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chemeClr val="accent3">
                    <a:lumMod val="75000"/>
                  </a:schemeClr>
                </a:solidFill>
              </a:rPr>
              <a:t>Cloud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C4669-32E1-C457-6AF5-EA8DFF605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1"/>
            <a:ext cx="9601196" cy="3563649"/>
          </a:xfrm>
        </p:spPr>
        <p:txBody>
          <a:bodyPr/>
          <a:lstStyle/>
          <a:p>
            <a:pPr algn="ctr"/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Stores </a:t>
            </a:r>
            <a:r>
              <a:rPr lang="en-US" sz="2800" b="1" dirty="0">
                <a:solidFill>
                  <a:schemeClr val="accent3">
                    <a:lumMod val="75000"/>
                  </a:schemeClr>
                </a:solidFill>
              </a:rPr>
              <a:t>tea recipes</a:t>
            </a:r>
            <a:endParaRPr lang="en-US" sz="2800" dirty="0">
              <a:solidFill>
                <a:schemeClr val="accent3">
                  <a:lumMod val="75000"/>
                </a:schemeClr>
              </a:solidFill>
            </a:endParaRPr>
          </a:p>
          <a:p>
            <a:pPr algn="ctr"/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Saves user-selected favorite recipes</a:t>
            </a:r>
          </a:p>
          <a:p>
            <a:pPr algn="ctr"/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Enables quick recipe access</a:t>
            </a:r>
          </a:p>
          <a:p>
            <a:pPr algn="ctr"/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Provides centralized recipe management</a:t>
            </a:r>
          </a:p>
          <a:p>
            <a:pPr algn="ctr"/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Supports future cloud expansion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7349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635603-8B57-1876-5782-84258347FC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793" y="247650"/>
            <a:ext cx="11442660" cy="637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064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58BEF-9D49-150F-707F-BDE1C90A6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766916"/>
            <a:ext cx="9601196" cy="1150375"/>
          </a:xfrm>
        </p:spPr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	</a:t>
            </a:r>
            <a:r>
              <a:rPr lang="en-US" b="1" u="sng" dirty="0">
                <a:solidFill>
                  <a:schemeClr val="accent3">
                    <a:lumMod val="75000"/>
                  </a:schemeClr>
                </a:solidFill>
              </a:rPr>
              <a:t>Recipe &amp; Customization options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6E11D-F72D-D8BE-9E1F-08F006E412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1471"/>
            <a:ext cx="9601196" cy="353961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3">
                    <a:lumMod val="75000"/>
                  </a:schemeClr>
                </a:solidFill>
              </a:rPr>
              <a:t>Automatic Mode</a:t>
            </a:r>
            <a:endParaRPr lang="en-US" sz="2800" dirty="0">
              <a:solidFill>
                <a:schemeClr val="accent3">
                  <a:lumMod val="75000"/>
                </a:schemeClr>
              </a:solidFill>
            </a:endParaRPr>
          </a:p>
          <a:p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Cloud-stored recipes</a:t>
            </a:r>
          </a:p>
          <a:p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Cup selection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accent3">
                    <a:lumMod val="75000"/>
                  </a:schemeClr>
                </a:solidFill>
              </a:rPr>
              <a:t>Manual Mode</a:t>
            </a:r>
            <a:endParaRPr lang="en-US" sz="2800" dirty="0">
              <a:solidFill>
                <a:schemeClr val="accent3">
                  <a:lumMod val="75000"/>
                </a:schemeClr>
              </a:solidFill>
            </a:endParaRPr>
          </a:p>
          <a:p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Sugar selection</a:t>
            </a:r>
          </a:p>
          <a:p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Milk selection</a:t>
            </a:r>
          </a:p>
          <a:p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Water control</a:t>
            </a:r>
          </a:p>
          <a:p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Adjustable tea strength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68361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67315-1BDA-9997-D5BB-551F5D19E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1196" cy="1179871"/>
          </a:xfrm>
        </p:spPr>
        <p:txBody>
          <a:bodyPr/>
          <a:lstStyle/>
          <a:p>
            <a:r>
              <a:rPr lang="en-US" b="1" u="sng" dirty="0">
                <a:solidFill>
                  <a:schemeClr val="accent3">
                    <a:lumMod val="75000"/>
                  </a:schemeClr>
                </a:solidFill>
              </a:rPr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8A2C0-E1B2-173A-27C5-C7B8BDA388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92477"/>
            <a:ext cx="9601196" cy="367234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sz="2900" b="1" u="sng" dirty="0">
                <a:solidFill>
                  <a:schemeClr val="accent3">
                    <a:lumMod val="75000"/>
                  </a:schemeClr>
                </a:solidFill>
              </a:rPr>
              <a:t>Hardware Layer</a:t>
            </a:r>
          </a:p>
          <a:p>
            <a:pPr lvl="1"/>
            <a:r>
              <a:rPr lang="en-US" sz="2900" dirty="0">
                <a:solidFill>
                  <a:schemeClr val="accent3">
                    <a:lumMod val="75000"/>
                  </a:schemeClr>
                </a:solidFill>
              </a:rPr>
              <a:t>Pumps, servos, stove</a:t>
            </a:r>
          </a:p>
          <a:p>
            <a:pPr marL="0" indent="0">
              <a:buNone/>
            </a:pPr>
            <a:r>
              <a:rPr lang="en-US" sz="2900" b="1" u="sng" dirty="0">
                <a:solidFill>
                  <a:schemeClr val="accent3">
                    <a:lumMod val="75000"/>
                  </a:schemeClr>
                </a:solidFill>
              </a:rPr>
              <a:t>Control Layer</a:t>
            </a:r>
          </a:p>
          <a:p>
            <a:pPr lvl="1"/>
            <a:r>
              <a:rPr lang="en-US" sz="2900" dirty="0">
                <a:solidFill>
                  <a:schemeClr val="accent3">
                    <a:lumMod val="75000"/>
                  </a:schemeClr>
                </a:solidFill>
              </a:rPr>
              <a:t>ESP32, relays, SSR</a:t>
            </a:r>
          </a:p>
          <a:p>
            <a:pPr marL="0" indent="0">
              <a:buNone/>
            </a:pPr>
            <a:r>
              <a:rPr lang="en-US" sz="2900" b="1" u="sng" dirty="0">
                <a:solidFill>
                  <a:schemeClr val="accent3">
                    <a:lumMod val="75000"/>
                  </a:schemeClr>
                </a:solidFill>
              </a:rPr>
              <a:t>Software Layer</a:t>
            </a:r>
          </a:p>
          <a:p>
            <a:pPr lvl="1"/>
            <a:r>
              <a:rPr lang="en-US" sz="2900" dirty="0">
                <a:solidFill>
                  <a:schemeClr val="accent3">
                    <a:lumMod val="75000"/>
                  </a:schemeClr>
                </a:solidFill>
              </a:rPr>
              <a:t>Web interface</a:t>
            </a:r>
          </a:p>
          <a:p>
            <a:pPr marL="0" indent="0">
              <a:buNone/>
            </a:pPr>
            <a:r>
              <a:rPr lang="en-US" sz="2900" b="1" u="sng" dirty="0">
                <a:solidFill>
                  <a:schemeClr val="accent3">
                    <a:lumMod val="75000"/>
                  </a:schemeClr>
                </a:solidFill>
              </a:rPr>
              <a:t>Cloud Layer</a:t>
            </a:r>
          </a:p>
          <a:p>
            <a:pPr lvl="1"/>
            <a:r>
              <a:rPr lang="en-US" sz="2900" dirty="0">
                <a:solidFill>
                  <a:schemeClr val="accent3">
                    <a:lumMod val="75000"/>
                  </a:schemeClr>
                </a:solidFill>
              </a:rPr>
              <a:t>MongoDB (Recipes storage)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19936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1D221C4-BA20-487D-E51A-5F0113FA2C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9972" y="850925"/>
            <a:ext cx="8978765" cy="515614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346242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086AA-6650-8C7E-72B2-01E7DF969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chemeClr val="accent3">
                    <a:lumMod val="75000"/>
                  </a:schemeClr>
                </a:solidFill>
              </a:rPr>
              <a:t>Hardware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3A692-292E-FD18-40EF-8543D3441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1"/>
            <a:ext cx="9601196" cy="3637391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ESP32 development board</a:t>
            </a:r>
          </a:p>
          <a:p>
            <a:pPr algn="ctr"/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2-channel relay module</a:t>
            </a:r>
          </a:p>
          <a:p>
            <a:pPr algn="ctr"/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DC water and milk pumps</a:t>
            </a:r>
          </a:p>
          <a:p>
            <a:pPr algn="ctr"/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Servo motors for ingredients</a:t>
            </a:r>
          </a:p>
          <a:p>
            <a:pPr algn="ctr"/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Stove for boiling</a:t>
            </a:r>
          </a:p>
          <a:p>
            <a:pPr algn="ctr"/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Solid State Relay (SSR)</a:t>
            </a:r>
          </a:p>
          <a:p>
            <a:pPr algn="ctr"/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Food containers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53001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93B58-BF0F-581B-BA27-57EB02CDD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chemeClr val="accent3">
                    <a:lumMod val="75000"/>
                  </a:schemeClr>
                </a:solidFill>
              </a:rPr>
              <a:t>Hardware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E2F55-0729-A901-4AB8-2E9D337FD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743200"/>
            <a:ext cx="9601196" cy="3132668"/>
          </a:xfrm>
        </p:spPr>
        <p:txBody>
          <a:bodyPr/>
          <a:lstStyle/>
          <a:p>
            <a:pPr algn="ctr"/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GPIO 27 → Water pump</a:t>
            </a:r>
          </a:p>
          <a:p>
            <a:pPr algn="ctr"/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GPIO 26 → Milk pump</a:t>
            </a:r>
          </a:p>
          <a:p>
            <a:pPr algn="ctr"/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GPIO 18 → Tea dispenser</a:t>
            </a:r>
          </a:p>
          <a:p>
            <a:pPr algn="ctr"/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GPIO 19 → Sugar dispenser</a:t>
            </a:r>
          </a:p>
          <a:p>
            <a:pPr algn="ctr"/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GPIO 23 → Stove control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14397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4E607-DDB8-1E12-B9C8-40886DA2C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chemeClr val="accent3">
                    <a:lumMod val="75000"/>
                  </a:schemeClr>
                </a:solidFill>
              </a:rPr>
              <a:t>Software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67836-3D6A-BB68-51F3-3EE8E542F5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ctr"/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Arduino framework (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PlatformIO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)</a:t>
            </a:r>
          </a:p>
          <a:p>
            <a:pPr algn="ctr"/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ESP32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WiFi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library</a:t>
            </a:r>
          </a:p>
          <a:p>
            <a:pPr algn="ctr"/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WebServer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library</a:t>
            </a:r>
          </a:p>
          <a:p>
            <a:pPr algn="ctr"/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REST-based communication</a:t>
            </a:r>
          </a:p>
          <a:p>
            <a:pPr algn="ctr"/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Web-based user interface</a:t>
            </a:r>
          </a:p>
          <a:p>
            <a:pPr algn="ctr"/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MongoDB for recipe storage</a:t>
            </a:r>
          </a:p>
          <a:p>
            <a:pPr algn="ctr"/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Mqtt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and node-red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2062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C8826-0264-B4C3-57CF-1D0A43874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chemeClr val="accent3">
                    <a:lumMod val="75000"/>
                  </a:schemeClr>
                </a:solidFill>
              </a:rPr>
              <a:t>MQTT &amp; NODE-RED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11F5C-BBBB-66E3-A756-31E1EE086D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3642852"/>
            <a:ext cx="9601196" cy="2233016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MQTT was used for efficient real-time communication.</a:t>
            </a:r>
          </a:p>
          <a:p>
            <a:pPr algn="ctr"/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Node-RED handled message flow and system control in a visual and scalable manner</a:t>
            </a:r>
          </a:p>
        </p:txBody>
      </p:sp>
    </p:spTree>
    <p:extLst>
      <p:ext uri="{BB962C8B-B14F-4D97-AF65-F5344CB8AC3E}">
        <p14:creationId xmlns:p14="http://schemas.microsoft.com/office/powerpoint/2010/main" val="7200999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2C52D8-0AD3-5F7C-B8C8-597CE0806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4535" y="865858"/>
            <a:ext cx="6962929" cy="5126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7653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FDC5C3-2173-D1AF-4615-932B9ADBB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3151" y="768904"/>
            <a:ext cx="6745698" cy="5320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2093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4104EF-3E09-D668-912F-A91EA2268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2587" y="2238375"/>
            <a:ext cx="8886825" cy="238125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2B81DEC-F5BD-8D5C-603A-446CEBCE26F2}"/>
                  </a:ext>
                </a:extLst>
              </p14:cNvPr>
              <p14:cNvContentPartPr/>
              <p14:nvPr/>
            </p14:nvContentPartPr>
            <p14:xfrm>
              <a:off x="-206988" y="2462911"/>
              <a:ext cx="360" cy="3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2B81DEC-F5BD-8D5C-603A-446CEBCE26F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213108" y="2456791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051228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9727C1-2D3B-E364-7B3A-9FA9BD445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487" y="2466975"/>
            <a:ext cx="8963025" cy="192405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5F9F504-624F-4BF8-9B5F-4FA9749842D0}"/>
                  </a:ext>
                </a:extLst>
              </p14:cNvPr>
              <p14:cNvContentPartPr/>
              <p14:nvPr/>
            </p14:nvContentPartPr>
            <p14:xfrm>
              <a:off x="-1578588" y="604231"/>
              <a:ext cx="36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5F9F504-624F-4BF8-9B5F-4FA9749842D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1584708" y="598111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7437DC3-11B1-1322-BA07-C4AB37D98032}"/>
                  </a:ext>
                </a:extLst>
              </p14:cNvPr>
              <p14:cNvContentPartPr/>
              <p14:nvPr/>
            </p14:nvContentPartPr>
            <p14:xfrm>
              <a:off x="-1578588" y="28951"/>
              <a:ext cx="360" cy="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7437DC3-11B1-1322-BA07-C4AB37D9803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1584708" y="22831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EA038F7-1672-BE8A-E8BA-C83FAE1AF240}"/>
                  </a:ext>
                </a:extLst>
              </p14:cNvPr>
              <p14:cNvContentPartPr/>
              <p14:nvPr/>
            </p14:nvContentPartPr>
            <p14:xfrm>
              <a:off x="-1755348" y="294271"/>
              <a:ext cx="360" cy="3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EA038F7-1672-BE8A-E8BA-C83FAE1AF24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1761468" y="288151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8B965E4-370D-4CBF-B4F5-A855F0B8DA45}"/>
                  </a:ext>
                </a:extLst>
              </p14:cNvPr>
              <p14:cNvContentPartPr/>
              <p14:nvPr/>
            </p14:nvContentPartPr>
            <p14:xfrm>
              <a:off x="-1755348" y="294271"/>
              <a:ext cx="360" cy="3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8B965E4-370D-4CBF-B4F5-A855F0B8DA4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1761468" y="288151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BC97288-EBC2-1EDC-4A21-BEBADEAE197B}"/>
                  </a:ext>
                </a:extLst>
              </p14:cNvPr>
              <p14:cNvContentPartPr/>
              <p14:nvPr/>
            </p14:nvContentPartPr>
            <p14:xfrm>
              <a:off x="-1755348" y="294271"/>
              <a:ext cx="360" cy="3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BC97288-EBC2-1EDC-4A21-BEBADEAE197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1761468" y="288151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876654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534019-7004-9868-739F-7941E6ED03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736" y="813455"/>
            <a:ext cx="8658072" cy="5231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6865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C4BCB-7F4C-EC9E-3B00-969AC1BD5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chemeClr val="accent3">
                    <a:lumMod val="75000"/>
                  </a:schemeClr>
                </a:solidFill>
              </a:rPr>
              <a:t>Automatic Stove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FEE17-F792-85B1-059C-ECE381B97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768055"/>
            <a:ext cx="9601196" cy="3607894"/>
          </a:xfrm>
        </p:spPr>
        <p:txBody>
          <a:bodyPr/>
          <a:lstStyle/>
          <a:p>
            <a:pPr algn="ctr"/>
            <a:r>
              <a:rPr lang="en-US" sz="3200" dirty="0">
                <a:solidFill>
                  <a:schemeClr val="accent3">
                    <a:lumMod val="75000"/>
                  </a:schemeClr>
                </a:solidFill>
              </a:rPr>
              <a:t>Stove turns ON automatically</a:t>
            </a:r>
          </a:p>
          <a:p>
            <a:pPr algn="ctr"/>
            <a:r>
              <a:rPr lang="en-US" sz="3200" dirty="0">
                <a:solidFill>
                  <a:schemeClr val="accent3">
                    <a:lumMod val="75000"/>
                  </a:schemeClr>
                </a:solidFill>
              </a:rPr>
              <a:t>Ingredients collected in pan</a:t>
            </a:r>
          </a:p>
          <a:p>
            <a:pPr algn="ctr"/>
            <a:r>
              <a:rPr lang="en-US" sz="3200" dirty="0">
                <a:solidFill>
                  <a:schemeClr val="accent3">
                    <a:lumMod val="75000"/>
                  </a:schemeClr>
                </a:solidFill>
              </a:rPr>
              <a:t>Stove turns OFF after tea is ready</a:t>
            </a:r>
          </a:p>
          <a:p>
            <a:pPr algn="ctr"/>
            <a:r>
              <a:rPr lang="en-US" sz="3200" dirty="0">
                <a:solidFill>
                  <a:schemeClr val="accent3">
                    <a:lumMod val="75000"/>
                  </a:schemeClr>
                </a:solidFill>
              </a:rPr>
              <a:t>Controlled using SSR</a:t>
            </a:r>
          </a:p>
          <a:p>
            <a:pPr algn="ctr"/>
            <a:r>
              <a:rPr lang="en-US" sz="3200" dirty="0">
                <a:solidFill>
                  <a:schemeClr val="accent3">
                    <a:lumMod val="75000"/>
                  </a:schemeClr>
                </a:solidFill>
              </a:rPr>
              <a:t>Enhances safety and efficiency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8367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DEC95-0CA6-4783-1EA6-0C3B0F6D5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chemeClr val="accent3">
                    <a:lumMod val="75000"/>
                  </a:schemeClr>
                </a:solidFill>
              </a:rPr>
              <a:t>User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64A58-8155-160E-47B1-C049A5CE0D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1"/>
            <a:ext cx="9601196" cy="3637391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Power ON the system</a:t>
            </a:r>
          </a:p>
          <a:p>
            <a:pPr algn="ctr"/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ESP32 connects to </a:t>
            </a:r>
            <a:r>
              <a:rPr lang="en-US" dirty="0" err="1">
                <a:solidFill>
                  <a:schemeClr val="accent3">
                    <a:lumMod val="75000"/>
                  </a:schemeClr>
                </a:solidFill>
              </a:rPr>
              <a:t>WiFi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  <a:p>
            <a:pPr algn="ctr"/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Open device IP in browser</a:t>
            </a:r>
          </a:p>
          <a:p>
            <a:pPr algn="ctr"/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Select recipe or manual mode</a:t>
            </a:r>
          </a:p>
          <a:p>
            <a:pPr algn="ctr"/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Click 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Start Brewing</a:t>
            </a: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  <a:p>
            <a:pPr algn="ctr"/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Monitor brewing status</a:t>
            </a:r>
          </a:p>
          <a:p>
            <a:pPr algn="ctr"/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Collect tea after completion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24794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0732F8C-CEFD-E2F2-BD85-B16D54CAD2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380" y="785732"/>
            <a:ext cx="9247239" cy="528653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702317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F237520-DF7F-1D79-F0BA-0BAA5D1890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418" y="1683600"/>
            <a:ext cx="10166113" cy="34908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347390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96F97C7-7D98-3039-3FCC-35DF7090D4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604" y="961635"/>
            <a:ext cx="8660990" cy="493472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73813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E2555C6-4F39-7FD1-3A8B-2ABDCF0AF9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587" y="1946789"/>
            <a:ext cx="10406825" cy="322989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426451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99AC9A0-F7A5-ECDD-AF10-FEFAEAED72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0147" y="1792246"/>
            <a:ext cx="9883879" cy="327350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460679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1D0BDC0-DC2E-CBF4-CC4D-2798BF3706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23" y="2806468"/>
            <a:ext cx="10514953" cy="158735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990077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FFE387-8B61-A671-7ABE-CBE912FDDDC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2800" b="1" u="sng" dirty="0">
                <a:solidFill>
                  <a:schemeClr val="accent3">
                    <a:lumMod val="75000"/>
                  </a:schemeClr>
                </a:solidFill>
              </a:rPr>
              <a:t>NETWORK</a:t>
            </a:r>
          </a:p>
          <a:p>
            <a:r>
              <a:rPr lang="en-US" sz="2800" b="1" u="sng" dirty="0">
                <a:solidFill>
                  <a:schemeClr val="accent3">
                    <a:lumMod val="75000"/>
                  </a:schemeClr>
                </a:solidFill>
              </a:rPr>
              <a:t> CONFIGURATION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27D63E4-3234-D33D-7836-9FE7F7706B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76528" y="1804761"/>
            <a:ext cx="5153744" cy="324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429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BAD0C-9C7C-C501-D0CB-C03D4DC60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900" b="1" u="sng" dirty="0">
                <a:solidFill>
                  <a:schemeClr val="accent3">
                    <a:lumMod val="75000"/>
                  </a:schemeClr>
                </a:solidFill>
              </a:rPr>
              <a:t>Challenges Faced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2B80E-912C-5960-3620-62082BE37D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3429000"/>
            <a:ext cx="9601196" cy="2446868"/>
          </a:xfrm>
        </p:spPr>
        <p:txBody>
          <a:bodyPr/>
          <a:lstStyle/>
          <a:p>
            <a:pPr algn="ctr"/>
            <a:r>
              <a:rPr lang="en-US" sz="3200" dirty="0">
                <a:solidFill>
                  <a:schemeClr val="accent3">
                    <a:lumMod val="75000"/>
                  </a:schemeClr>
                </a:solidFill>
              </a:rPr>
              <a:t>Motors not running</a:t>
            </a:r>
          </a:p>
          <a:p>
            <a:pPr algn="ctr"/>
            <a:r>
              <a:rPr lang="en-US" sz="3200" dirty="0">
                <a:solidFill>
                  <a:schemeClr val="accent3">
                    <a:lumMod val="75000"/>
                  </a:schemeClr>
                </a:solidFill>
              </a:rPr>
              <a:t>Servo motors not rotating</a:t>
            </a:r>
          </a:p>
          <a:p>
            <a:pPr algn="ctr"/>
            <a:r>
              <a:rPr lang="en-US" sz="3200" dirty="0">
                <a:solidFill>
                  <a:schemeClr val="accent3">
                    <a:lumMod val="75000"/>
                  </a:schemeClr>
                </a:solidFill>
              </a:rPr>
              <a:t>Incorrect timing issues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97977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991A4-2967-6F32-6E01-585E2A9DA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893803"/>
          </a:xfrm>
        </p:spPr>
        <p:txBody>
          <a:bodyPr>
            <a:noAutofit/>
          </a:bodyPr>
          <a:lstStyle/>
          <a:p>
            <a:r>
              <a:rPr lang="en-US" b="1" u="sng" dirty="0">
                <a:solidFill>
                  <a:schemeClr val="accent3">
                    <a:lumMod val="75000"/>
                  </a:schemeClr>
                </a:solidFill>
              </a:rPr>
              <a:t>Solutions Implemented</a:t>
            </a:r>
            <a:br>
              <a:rPr lang="en-US" b="1" u="sng" dirty="0"/>
            </a:br>
            <a:endParaRPr lang="en-US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6C4FE-42B4-B42A-754A-CDC02549C8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Relay and power verification</a:t>
            </a:r>
          </a:p>
          <a:p>
            <a:pPr algn="ctr"/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GPIO pin checking</a:t>
            </a:r>
          </a:p>
          <a:p>
            <a:pPr algn="ctr"/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Servo wiring correction</a:t>
            </a:r>
          </a:p>
          <a:p>
            <a:pPr algn="ctr"/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Mechanical inspection</a:t>
            </a:r>
          </a:p>
          <a:p>
            <a:pPr algn="ctr"/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Timing logic adjustment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91019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B7B1075-B8B5-B9A5-4E21-5D1D04C224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393" y="771670"/>
            <a:ext cx="3267782" cy="531466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515913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7D5B4-DF9A-86E4-30DB-64A98C368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chemeClr val="accent3">
                    <a:lumMod val="75000"/>
                  </a:schemeClr>
                </a:solidFill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835DB37-507F-9595-52A7-8FE3B145E4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95401" y="3284310"/>
            <a:ext cx="10120556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Successfully implemented IoT-based tea automation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Simple and user-friendly system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Reliable hardware and software integration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Cloud used effectively for recipe storage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System ready for future enhancements</a:t>
            </a:r>
          </a:p>
        </p:txBody>
      </p:sp>
    </p:spTree>
    <p:extLst>
      <p:ext uri="{BB962C8B-B14F-4D97-AF65-F5344CB8AC3E}">
        <p14:creationId xmlns:p14="http://schemas.microsoft.com/office/powerpoint/2010/main" val="18345230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AB946B"/>
      </a:accent1>
      <a:accent2>
        <a:srgbClr val="C04F32"/>
      </a:accent2>
      <a:accent3>
        <a:srgbClr val="DD8C3C"/>
      </a:accent3>
      <a:accent4>
        <a:srgbClr val="8E684C"/>
      </a:accent4>
      <a:accent5>
        <a:srgbClr val="CBAF62"/>
      </a:accent5>
      <a:accent6>
        <a:srgbClr val="803348"/>
      </a:accent6>
      <a:hlink>
        <a:srgbClr val="86724D"/>
      </a:hlink>
      <a:folHlink>
        <a:srgbClr val="B99E84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A2BEDC8B-F191-493B-BA33-0F4F800A89D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65</TotalTime>
  <Words>428</Words>
  <Application>Microsoft Office PowerPoint</Application>
  <PresentationFormat>Widescreen</PresentationFormat>
  <Paragraphs>108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Garamond</vt:lpstr>
      <vt:lpstr>Organic</vt:lpstr>
      <vt:lpstr>AUTOMATED TEA BREWING SYSTEM</vt:lpstr>
      <vt:lpstr>PowerPoint Presentation</vt:lpstr>
      <vt:lpstr>PRESENTED BY:</vt:lpstr>
      <vt:lpstr>Project Overview  1. IoT-based automated tea brewing system 2. Controls complete tea preparation process 3. Reduces manual effort 4. Provides smart and efficient solution 5. Operated through a web-based interface </vt:lpstr>
      <vt:lpstr>Objectives</vt:lpstr>
      <vt:lpstr>Technology Stack</vt:lpstr>
      <vt:lpstr>Key Features</vt:lpstr>
      <vt:lpstr>Cloud Integration</vt:lpstr>
      <vt:lpstr>PowerPoint Presentation</vt:lpstr>
      <vt:lpstr> Recipe &amp; Customization options</vt:lpstr>
      <vt:lpstr>System Architecture</vt:lpstr>
      <vt:lpstr>PowerPoint Presentation</vt:lpstr>
      <vt:lpstr>Hardware Components</vt:lpstr>
      <vt:lpstr>Hardware Architecture</vt:lpstr>
      <vt:lpstr>Software Architecture</vt:lpstr>
      <vt:lpstr>MQTT &amp; NODE-RED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Automatic Stove Control</vt:lpstr>
      <vt:lpstr>User Workflow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Challenges Faced </vt:lpstr>
      <vt:lpstr>Solutions Implemented 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23-NTU-CS-FL-1032</dc:creator>
  <cp:lastModifiedBy>23-NTU-CS-FL-1032</cp:lastModifiedBy>
  <cp:revision>4</cp:revision>
  <dcterms:created xsi:type="dcterms:W3CDTF">2026-01-05T16:31:00Z</dcterms:created>
  <dcterms:modified xsi:type="dcterms:W3CDTF">2026-01-05T17:36:59Z</dcterms:modified>
</cp:coreProperties>
</file>